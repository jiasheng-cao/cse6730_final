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Alfa Slab One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lfaSlab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b82eb788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b82eb788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b82eb788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b82eb788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b82eb7887_6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b82eb7887_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The downstream mechanistic simulation of hydroponic plant systems focused on plant-growth biomass and nutrient uptake dynamics. The model follows an ODE framework driven by nutrient signal forcing and growth-model parameters, using RK4 as</a:t>
            </a:r>
            <a:r>
              <a:rPr lang="zh-CN">
                <a:solidFill>
                  <a:schemeClr val="dk1"/>
                </a:solidFill>
              </a:rPr>
              <a:t> time-resolved</a:t>
            </a:r>
            <a:r>
              <a:rPr lang="zh-CN"/>
              <a:t> numerical integration method. The module predicts specific growth rate, dry-mass accumulation, and nitrogen uptake. Five growth formulations were tested, including 3 Dynamic-based and 2 Monod-based models. Figure shows the simulated trajectories capture dry-mass growth patterns under various nitrogen-limited treatments. Table 2 summarizes the validation metrics, where Dynamic-μ gave the best aggregate performance. The data calibrated plant-growth parameters were then used in the integrated framework. </a:t>
            </a:r>
            <a:r>
              <a:rPr lang="zh-CN"/>
              <a:t>Nitrogen uptake </a:t>
            </a:r>
            <a:r>
              <a:rPr lang="zh-CN">
                <a:solidFill>
                  <a:schemeClr val="dk1"/>
                </a:solidFill>
              </a:rPr>
              <a:t>was estimated using Michaelis–Menten relationship and prediction </a:t>
            </a:r>
            <a:r>
              <a:rPr lang="zh-CN"/>
              <a:t>remained in the same order of magnitude as the observed uptake averages.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b82eb7887_6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b82eb7887_6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The integrated module shows how dynamic upstream nitrogen output conditions </a:t>
            </a:r>
            <a:r>
              <a:rPr lang="zh-CN">
                <a:solidFill>
                  <a:schemeClr val="dk1"/>
                </a:solidFill>
              </a:rPr>
              <a:t>used as downstream nutrient forcing signal and </a:t>
            </a:r>
            <a:r>
              <a:rPr lang="zh-CN"/>
              <a:t>propagate into lettuce biomass response.Two coupling time windows were compared shown in the left plot: an early usable-start window, representing the early dynamic trend of the reactor effluent, and a later quasi-steady-state start window with stable condition. The right plots show the predicted dry-mass trajectories, validation against observed data, and simulation performance metrics. This coupled framework evaluates how upstream reactor behavior affects downstream plant growth.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b728dcd3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b728dcd3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b82eb78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b82eb78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b728dcd3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b728dcd3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78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Simulating the Propagation of</a:t>
            </a:r>
            <a:endParaRPr b="1" sz="2778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78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Nutrient Dynamics: A Coupled</a:t>
            </a:r>
            <a:endParaRPr b="1" sz="2778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78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of Wastewater</a:t>
            </a:r>
            <a:endParaRPr b="1" sz="2778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78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Nitrification, Nutrient Recovery, and</a:t>
            </a:r>
            <a:endParaRPr b="1" sz="2778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778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Hydroponic Plant Growth</a:t>
            </a:r>
            <a:endParaRPr b="1" sz="2778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31:  Jiasheng Cao, Ruixin Liu, Zijun Meng, Yuming Sun</a:t>
            </a:r>
            <a:endParaRPr sz="18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ChatGPT Image 2026年5月1日 17_11_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8475" y="2977475"/>
            <a:ext cx="5133675" cy="20063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175625" y="863550"/>
            <a:ext cx="5872500" cy="31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4194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zh-C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Background: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zh-C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Wastewater treatment removes nitrogen to meet standards</a:t>
            </a:r>
            <a:endParaRPr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zh-C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leads to loss of valuable nutrients</a:t>
            </a:r>
            <a:endParaRPr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zh-C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Nitrogen is essential for plant growth</a:t>
            </a:r>
            <a:endParaRPr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194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zh-C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zh-C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wastewater be reused as a nutrient source?</a:t>
            </a:r>
            <a:endParaRPr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zh-C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we link treatment with agriculture?</a:t>
            </a:r>
            <a:endParaRPr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194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zh-C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idea: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zh-C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coupled system:</a:t>
            </a:r>
            <a:endParaRPr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zh-C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Reactor → transforms nitrogen</a:t>
            </a:r>
            <a:endParaRPr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lang="zh-C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model → predicts biomass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95100" y="108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C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&amp; Motivation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69825" y="585600"/>
            <a:ext cx="4209300" cy="37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Framework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Mechanistic CSTR-based nitrification model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Monod kinetics for AOB and NOB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Improvement 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DO mass balance included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 engineering control with biology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Validation and Key Findings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 experimental cases used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NH₄⁺, NO₂⁻, NO₃⁻ at steady state (day 100)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overall nitrification trend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agreement for nitrate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NH₄⁺ and NO₂⁻ clustered → low sensitivity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zh-C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R² indicates poor variability capture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2636" y="3927328"/>
            <a:ext cx="2065476" cy="3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5074" y="4548718"/>
            <a:ext cx="2160600" cy="37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524950"/>
            <a:ext cx="2826342" cy="4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effluent_nitrogen_parity_pl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200" y="478575"/>
            <a:ext cx="3976648" cy="314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8125" y="3775250"/>
            <a:ext cx="4395875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type="title"/>
          </p:nvPr>
        </p:nvSpPr>
        <p:spPr>
          <a:xfrm>
            <a:off x="72775" y="12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C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Upstream Nitrification Model Validation &amp; Key Findings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500" y="3904600"/>
            <a:ext cx="2160599" cy="4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72775" y="4452050"/>
            <a:ext cx="2562300" cy="493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139125" y="442450"/>
            <a:ext cx="4108500" cy="25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Framework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supplied plant-available nitrogen forcing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ODE-based simulation framework, numerical integration: RK4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growth rate: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plant-growth formulations tested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Dynamic-μ,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RMND-μ, SMND-μ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Liebig minimum Monod,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Multiplicative Monod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Dry mass: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Nitrogen uptake: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Michaelis–Menten relationship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72775" y="12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C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Downstream Plant Growth and Nitrogen Uptake Module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6" title="Screenshot 2026-05-01 at 21.24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450" y="3696900"/>
            <a:ext cx="5932549" cy="14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 title="Screenshot 2026-05-01 at 21.25.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9020" y="387162"/>
            <a:ext cx="4640650" cy="330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57375" y="2699032"/>
            <a:ext cx="41904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Model Validation and Key Findings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Dynamic-μ gave the best aggregate downstream validation performance.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The calibrated plant-growth parameters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○"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integrated framework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○"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reusable parameter sets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57375" y="3801667"/>
            <a:ext cx="3000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Monod-type models captured general growth trends, but weaker performance. Useful when only input nutrient concentrations are available.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Simulated uptake slightly higher than observed averages but in the same order of magnitude.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6" title="Screenshot 2026-05-01 at 21.51.09.png"/>
          <p:cNvPicPr preferRelativeResize="0"/>
          <p:nvPr/>
        </p:nvPicPr>
        <p:blipFill rotWithShape="1">
          <a:blip r:embed="rId5">
            <a:alphaModFix/>
          </a:blip>
          <a:srcRect b="12453" l="0" r="0" t="17273"/>
          <a:stretch/>
        </p:blipFill>
        <p:spPr>
          <a:xfrm>
            <a:off x="1301550" y="2091806"/>
            <a:ext cx="994525" cy="2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title="Screenshot 2026-05-01 at 21.51.15.png"/>
          <p:cNvPicPr preferRelativeResize="0"/>
          <p:nvPr/>
        </p:nvPicPr>
        <p:blipFill rotWithShape="1">
          <a:blip r:embed="rId6">
            <a:alphaModFix/>
          </a:blip>
          <a:srcRect b="14170" l="0" r="0" t="0"/>
          <a:stretch/>
        </p:blipFill>
        <p:spPr>
          <a:xfrm>
            <a:off x="1794625" y="2292175"/>
            <a:ext cx="1671250" cy="3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 title="Screenshot 2026-05-01 at 21.51.3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6082" y="1376515"/>
            <a:ext cx="2087253" cy="3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Screenshot 2026-05-01 at 21.51.44.png"/>
          <p:cNvPicPr preferRelativeResize="0"/>
          <p:nvPr/>
        </p:nvPicPr>
        <p:blipFill rotWithShape="1">
          <a:blip r:embed="rId8">
            <a:alphaModFix/>
          </a:blip>
          <a:srcRect b="10733" l="0" r="0" t="13790"/>
          <a:stretch/>
        </p:blipFill>
        <p:spPr>
          <a:xfrm>
            <a:off x="2637800" y="1731398"/>
            <a:ext cx="1171575" cy="3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0" y="-53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Upstream–Downstream Simulation and Validation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7" title="Screenshot 2026-05-01 at 22.02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770" y="2046332"/>
            <a:ext cx="4361550" cy="307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 title="Screenshot 2026-05-01 at 22.03.35.png"/>
          <p:cNvPicPr preferRelativeResize="0"/>
          <p:nvPr/>
        </p:nvPicPr>
        <p:blipFill rotWithShape="1">
          <a:blip r:embed="rId4">
            <a:alphaModFix/>
          </a:blip>
          <a:srcRect b="0" l="0" r="0" t="72628"/>
          <a:stretch/>
        </p:blipFill>
        <p:spPr>
          <a:xfrm>
            <a:off x="4714771" y="350114"/>
            <a:ext cx="4252224" cy="1737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Screenshot 2026-05-01 at 22.07.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75" y="2462285"/>
            <a:ext cx="4642000" cy="26592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72825" y="350125"/>
            <a:ext cx="4738800" cy="27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Module coupling</a:t>
            </a: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 Framework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expressed on nitrogen-mass basis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Reactor output mapped to lettuce crop cycle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Time windows: sable-start vs quasi-stead-state start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Mean N level matched to calibrated lettuce treatment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Integrated Module: validated using matched wastewater effluent N concentrations and plant-level dry-mass observation.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Takeaway: The coupled framework connects wastewater-derived nitrogen supply to lettuce biomass response under dynamic nutrient conditions.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7" title="Screenshot 2026-05-01 at 22.15.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775" y="632300"/>
            <a:ext cx="1627225" cy="2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95100" y="108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C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 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8" title="fig1_DM_vs_Nsca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938" y="1149450"/>
            <a:ext cx="4409037" cy="167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fig2_DM_vs_startshif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975" y="3104656"/>
            <a:ext cx="4408975" cy="167274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7550" y="1371575"/>
            <a:ext cx="4639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zh-CN" sz="1500">
                <a:latin typeface="Times New Roman"/>
                <a:ea typeface="Times New Roman"/>
                <a:cs typeface="Times New Roman"/>
                <a:sym typeface="Times New Roman"/>
              </a:rPr>
              <a:t>Final dry mass increases consistently as nitrogen forcing increases.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zh-CN" sz="1500">
                <a:latin typeface="Times New Roman"/>
                <a:ea typeface="Times New Roman"/>
                <a:cs typeface="Times New Roman"/>
                <a:sym typeface="Times New Roman"/>
              </a:rPr>
              <a:t>This trend appears in both usable-start and quasi-steady-start cycles.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95100" y="2979375"/>
            <a:ext cx="4592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zh-CN" sz="1500">
                <a:latin typeface="Times New Roman"/>
                <a:ea typeface="Times New Roman"/>
                <a:cs typeface="Times New Roman"/>
                <a:sym typeface="Times New Roman"/>
              </a:rPr>
              <a:t>Start-time shifts have a much weaker effect than nitrogen scaling.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zh-CN" sz="1500">
                <a:latin typeface="Times New Roman"/>
                <a:ea typeface="Times New Roman"/>
                <a:cs typeface="Times New Roman"/>
                <a:sym typeface="Times New Roman"/>
              </a:rPr>
              <a:t>The usable-start cycle shows a small decrease when shifted later because it overlaps with transient reactor dynamics.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105600" y="616825"/>
            <a:ext cx="89328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Perturbations tested:</a:t>
            </a:r>
            <a:r>
              <a:rPr b="1" lang="zh-CN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Nitrogen scale: 0.70, 0.85, 1.00, 1.15, 1.30; Start-time shift: −5, −2, 0, +2, +5 days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95100" y="108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C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 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223300" y="3073500"/>
            <a:ext cx="39162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The main-effect comparison confirms that nitrogen scaling causes a much larger change in final dry mass than start timing.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9" title="fig_main_effect_strength_comparison_quas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501" y="2698757"/>
            <a:ext cx="4761298" cy="23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 title="fig_2D_heatmap_percent_change_usable_vs_quasi_stead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00" y="681400"/>
            <a:ext cx="4644127" cy="2095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5034700" y="1230300"/>
            <a:ext cx="3866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The 2D heatmaps show a strong response along the nitrogen-scale direction, but only weak variation along the start-shift direction.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18143" y="4173825"/>
            <a:ext cx="3526500" cy="775800"/>
          </a:xfrm>
          <a:prstGeom prst="rightArrow">
            <a:avLst>
              <a:gd fmla="val 6046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Key takeaway:</a:t>
            </a: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 the integrated system is mainly </a:t>
            </a: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resource-driven</a:t>
            </a: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, not timing-driven.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304800" y="878550"/>
            <a:ext cx="85344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Built a coupled framework linking </a:t>
            </a:r>
            <a:r>
              <a:rPr b="1" lang="zh-CN" sz="1600">
                <a:latin typeface="Times New Roman"/>
                <a:ea typeface="Times New Roman"/>
                <a:cs typeface="Times New Roman"/>
                <a:sym typeface="Times New Roman"/>
              </a:rPr>
              <a:t>wastewater nitrification</a:t>
            </a: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1" lang="zh-CN" sz="1600">
                <a:latin typeface="Times New Roman"/>
                <a:ea typeface="Times New Roman"/>
                <a:cs typeface="Times New Roman"/>
                <a:sym typeface="Times New Roman"/>
              </a:rPr>
              <a:t>hydroponic plant growth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The wastewater module captured the main nitrogen transformation trend, but validation showed systematic bias: ammonium and nitrite were overestimated, while nitrate was underestimated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The plant growth module showed that biomass prediction depends strongly on the selected growth model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In the integrated system, </a:t>
            </a:r>
            <a:r>
              <a:rPr b="1" lang="zh-CN" sz="1600">
                <a:latin typeface="Times New Roman"/>
                <a:ea typeface="Times New Roman"/>
                <a:cs typeface="Times New Roman"/>
                <a:sym typeface="Times New Roman"/>
              </a:rPr>
              <a:t>nitrogen availability is the main driver of final biomass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Sensitivity analysis shows the system is </a:t>
            </a:r>
            <a:r>
              <a:rPr b="1" lang="zh-CN" sz="1600">
                <a:latin typeface="Times New Roman"/>
                <a:ea typeface="Times New Roman"/>
                <a:cs typeface="Times New Roman"/>
                <a:sym typeface="Times New Roman"/>
              </a:rPr>
              <a:t>resource-driven, not timing-driven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zh-CN" sz="1600">
                <a:latin typeface="Times New Roman"/>
                <a:ea typeface="Times New Roman"/>
                <a:cs typeface="Times New Roman"/>
                <a:sym typeface="Times New Roman"/>
              </a:rPr>
              <a:t>Future work should improve variability capture, parameter calibration, and nutrient feedback between plant uptake and reactor output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95100" y="108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C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